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200" b="1">
                <a:solidFill>
                  <a:srgbClr val="06B6D4"/>
                </a:solidFill>
                <a:latin typeface="Segoe UI"/>
              </a:defRPr>
            </a:pPr>
            <a:r>
              <a:t>AEQUITAS</a:t>
            </a:r>
          </a:p>
          <a:p>
            <a:pPr>
              <a:spcBef>
                <a:spcPts val="600"/>
              </a:spcBef>
              <a:defRPr sz="2400">
                <a:solidFill>
                  <a:srgbClr val="6366F1"/>
                </a:solidFill>
                <a:latin typeface="Segoe UI"/>
              </a:defRPr>
            </a:pPr>
            <a:r>
              <a:t>Legal Help Made Accessible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TEAM NAME // </a:t>
            </a:r>
            <a:r>
              <a:rPr sz="1300">
                <a:solidFill>
                  <a:srgbClr val="F8FAFC"/>
                </a:solidFill>
                <a:latin typeface="Segoe UI"/>
              </a:rPr>
              <a:t>[Enter your Team Name]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TEAM LEADER NAME // </a:t>
            </a:r>
            <a:r>
              <a:rPr sz="1300">
                <a:solidFill>
                  <a:srgbClr val="F8FAFC"/>
                </a:solidFill>
                <a:latin typeface="Segoe UI"/>
              </a:rPr>
              <a:t>[Enter Team Leader Name]</a:t>
            </a:r>
          </a:p>
          <a:p>
            <a:pPr>
              <a:spcAft>
                <a:spcPts val="1000"/>
              </a:spcAft>
            </a:pPr>
            <a:r>
              <a:rPr sz="1200" b="1">
                <a:solidFill>
                  <a:srgbClr val="06B6D4"/>
                </a:solidFill>
                <a:latin typeface="Consolas"/>
              </a:rPr>
              <a:t>PROBLEM STATEMENT // </a:t>
            </a:r>
            <a:r>
              <a:rPr sz="1300">
                <a:solidFill>
                  <a:srgbClr val="F8FAFC"/>
                </a:solidFill>
                <a:latin typeface="Segoe UI"/>
              </a:rPr>
              <a:t>Providing legal help to everyone by translating complex jargon, offering flat-rate pricing transparency, and validating licenses automatically.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onsolas"/>
              </a:defRPr>
            </a:pPr>
            <a:r>
              <a:t>CODERUSH 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Meet 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200" b="1">
                <a:solidFill>
                  <a:srgbClr val="06B6D4"/>
                </a:solidFill>
                <a:latin typeface="Consolas"/>
              </a:defRPr>
            </a:pPr>
            <a:r>
              <a:t>TEAM LEADER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Name: [Leader Name]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College: [College Name]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Segoe UI"/>
              </a:defRPr>
            </a:pPr>
            <a:r>
              <a:t>LinkedIn: [Profile Link]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6366F1"/>
                </a:solidFill>
                <a:latin typeface="Consolas"/>
              </a:defRPr>
            </a:pPr>
            <a:r>
              <a:t>TEAM MEMBER 01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Name: [Member Name]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College: [College Name]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LinkedIn: [Profile Link]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6366F1"/>
                </a:solidFill>
                <a:latin typeface="Consolas"/>
              </a:defRPr>
            </a:pPr>
            <a:r>
              <a:t>TEAM MEMBER 02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Name: [Member Name]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College: [College Name]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LinkedIn: [Profile Link]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931920"/>
            <a:ext cx="3383280" cy="2103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6366F1"/>
                </a:solidFill>
                <a:latin typeface="Consolas"/>
              </a:defRPr>
            </a:pPr>
            <a:r>
              <a:t>TEAM MEMBER 03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Name: [Member Name]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College: [College Name]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LinkedIn: [Profile Link]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931920"/>
            <a:ext cx="3383280" cy="2103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6366F1"/>
                </a:solidFill>
                <a:latin typeface="Consolas"/>
              </a:defRPr>
            </a:pPr>
            <a:r>
              <a:t>TEAM MEMBER 04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Name: [Member Name]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College: [College Name]</a:t>
            </a:r>
          </a:p>
          <a:p>
            <a:pPr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LinkedIn: [Profile Link]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onsolas"/>
              </a:defRPr>
            </a:pPr>
            <a:r>
              <a:t>THE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Brief about the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3600" b="1">
                <a:solidFill>
                  <a:srgbClr val="06B6D4"/>
                </a:solidFill>
                <a:latin typeface="Consolas"/>
              </a:defRPr>
            </a:pPr>
            <a:r>
              <a:t>01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AI INTAKE &amp; NLP EXTRACTION</a:t>
            </a:r>
          </a:p>
          <a:p>
            <a:pPr>
              <a:lnSpc>
                <a:spcPct val="130000"/>
              </a:lnSpc>
              <a:defRPr sz="1250">
                <a:solidFill>
                  <a:srgbClr val="94A3B8"/>
                </a:solidFill>
                <a:latin typeface="Segoe UI"/>
              </a:defRPr>
            </a:pPr>
            <a:r>
              <a:t>Speech-to-text intake in local languages (EN/HI/MR). An NLP model (Claude) classifies the practice area and extracts key entities (dispute amount, city, dates) which are processed by deterministic backend formulas to compute viability and filing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3600" b="1">
                <a:solidFill>
                  <a:srgbClr val="6366F1"/>
                </a:solidFill>
                <a:latin typeface="Consolas"/>
              </a:defRPr>
            </a:pPr>
            <a:r>
              <a:t>02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TRANSPARENT MATCHMAKER</a:t>
            </a:r>
          </a:p>
          <a:p>
            <a:pPr>
              <a:lnSpc>
                <a:spcPct val="130000"/>
              </a:lnSpc>
              <a:defRPr sz="1250">
                <a:solidFill>
                  <a:srgbClr val="94A3B8"/>
                </a:solidFill>
                <a:latin typeface="Segoe UI"/>
              </a:defRPr>
            </a:pPr>
            <a:r>
              <a:t>Say goodbye to hidden rates. Clients search and browse lawyer directories utilizing verifiable past-case track records, user star reviews, and upfront flat-fee legal service packages.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61C2D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3600" b="1">
                <a:solidFill>
                  <a:srgbClr val="6366F1"/>
                </a:solidFill>
                <a:latin typeface="Consolas"/>
              </a:defRPr>
            </a:pPr>
            <a:r>
              <a:t>03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SECURE CASE WORKSPACE</a:t>
            </a:r>
          </a:p>
          <a:p>
            <a:pPr>
              <a:lnSpc>
                <a:spcPct val="130000"/>
              </a:lnSpc>
              <a:defRPr sz="1250">
                <a:solidFill>
                  <a:srgbClr val="94A3B8"/>
                </a:solidFill>
                <a:latin typeface="Segoe UI"/>
              </a:defRPr>
            </a:pPr>
            <a:r>
              <a:t>Unlocks a privilege-protected timeline workspace containing direct secure chat, litigation phase trackers, and an AI Clause Auditor flagging predatory terms in PDF contracts.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onsolas"/>
              </a:defRPr>
            </a:pPr>
            <a:r>
              <a:t>MARKET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Opportunity, Solve &amp; USP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6366F1"/>
                </a:solidFill>
                <a:latin typeface="Consolas"/>
              </a:defRPr>
            </a:pPr>
            <a:r>
              <a:t>HOW WE SOLVE THE PROBLEM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▸ Jargon-Free Analysis: Simplifies complex contracts and laws into transparent guides.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▸ Pricing Integrity: Mandates flat-rate packages, ending unpredictable billable hours.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▸ Verified Profiles: Integrates DigiLocker IDs and runs sanity checks on credentials.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400" b="1">
                <a:solidFill>
                  <a:srgbClr val="06B6D4"/>
                </a:solidFill>
                <a:latin typeface="Consolas"/>
              </a:defRPr>
            </a:pPr>
            <a:r>
              <a:t>UNIQUE SELLING POINT (USP)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▸ Intake-to-Audit Continuity: Unified flow from diagnostic voice intake to matching and remote contract scans in a secure workspace.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▸ Automated Credentials Stamp: Restricts new advocates to 'Pending Verification' until digital audits pass.</a:t>
            </a:r>
          </a:p>
          <a:p>
            <a:pPr>
              <a:lnSpc>
                <a:spcPct val="125000"/>
              </a:lnSpc>
              <a:spcAft>
                <a:spcPts val="1200"/>
              </a:spcAft>
              <a:defRPr sz="1250">
                <a:solidFill>
                  <a:srgbClr val="F8FAFC"/>
                </a:solidFill>
                <a:latin typeface="Segoe UI"/>
              </a:defRPr>
            </a:pPr>
            <a:r>
              <a:t>▸ Role-Tailored Portals: Dynamic toggling between Client view and Advocate caseload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onsolas"/>
              </a:defRPr>
            </a:pPr>
            <a: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Aequitas Process Flow Chart</a:t>
            </a:r>
          </a:p>
        </p:txBody>
      </p:sp>
      <p:sp>
        <p:nvSpPr>
          <p:cNvPr id="5" name="Oval 4"/>
          <p:cNvSpPr/>
          <p:nvPr/>
        </p:nvSpPr>
        <p:spPr>
          <a:xfrm>
            <a:off x="4114800" y="1188720"/>
            <a:ext cx="20116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Client Case Text Input</a:t>
            </a:r>
          </a:p>
        </p:txBody>
      </p:sp>
      <p:sp>
        <p:nvSpPr>
          <p:cNvPr id="6" name="Oval 5"/>
          <p:cNvSpPr/>
          <p:nvPr/>
        </p:nvSpPr>
        <p:spPr>
          <a:xfrm>
            <a:off x="7315200" y="1737360"/>
            <a:ext cx="20116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Voice/Doc 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737360"/>
            <a:ext cx="201168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AI NLP Extraction</a:t>
            </a:r>
          </a:p>
        </p:txBody>
      </p:sp>
      <p:sp>
        <p:nvSpPr>
          <p:cNvPr id="8" name="Folded Corner 7"/>
          <p:cNvSpPr/>
          <p:nvPr/>
        </p:nvSpPr>
        <p:spPr>
          <a:xfrm>
            <a:off x="2560320" y="1691640"/>
            <a:ext cx="1097280" cy="502920"/>
          </a:xfrm>
          <a:prstGeom prst="foldedCorner">
            <a:avLst/>
          </a:prstGeom>
          <a:solidFill>
            <a:srgbClr val="161C2D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94A3B8"/>
                </a:solidFill>
                <a:latin typeface="Consolas"/>
              </a:defRPr>
            </a:pPr>
            <a:r>
              <a:t>NLP Entity List</a:t>
            </a:r>
          </a:p>
        </p:txBody>
      </p:sp>
      <p:sp>
        <p:nvSpPr>
          <p:cNvPr id="9" name="Left Arrow 8"/>
          <p:cNvSpPr/>
          <p:nvPr/>
        </p:nvSpPr>
        <p:spPr>
          <a:xfrm>
            <a:off x="6400800" y="1847088"/>
            <a:ext cx="640080" cy="182880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029200" y="1618488"/>
            <a:ext cx="182880" cy="109728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3931920" y="2331720"/>
            <a:ext cx="2377440" cy="731520"/>
          </a:xfrm>
          <a:prstGeom prst="diamond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Segoe UI"/>
              </a:defRPr>
            </a:pPr>
            <a:r>
              <a:t>Is Case Viable?</a:t>
            </a:r>
            <a:br/>
            <a:r>
              <a:t>(Score &gt; 50%)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029200" y="2167128"/>
            <a:ext cx="182880" cy="146304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ft Arrow 12"/>
          <p:cNvSpPr/>
          <p:nvPr/>
        </p:nvSpPr>
        <p:spPr>
          <a:xfrm>
            <a:off x="2926080" y="2606040"/>
            <a:ext cx="822960" cy="182880"/>
          </a:xfrm>
          <a:prstGeom prst="lef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3317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97316"/>
                </a:solidFill>
              </a:defRPr>
            </a:pPr>
            <a:r>
              <a:t>Not OK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487168"/>
            <a:ext cx="20116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Route to Self-Help</a:t>
            </a:r>
          </a:p>
        </p:txBody>
      </p:sp>
      <p:sp>
        <p:nvSpPr>
          <p:cNvPr id="16" name="Folded Corner 15"/>
          <p:cNvSpPr/>
          <p:nvPr/>
        </p:nvSpPr>
        <p:spPr>
          <a:xfrm>
            <a:off x="731520" y="1737360"/>
            <a:ext cx="914400" cy="502920"/>
          </a:xfrm>
          <a:prstGeom prst="foldedCorner">
            <a:avLst/>
          </a:prstGeom>
          <a:solidFill>
            <a:srgbClr val="161C2D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Self-Help Playbook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4114800" y="3291840"/>
            <a:ext cx="2011680" cy="594360"/>
          </a:xfrm>
          <a:prstGeom prst="triangl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8FAFC"/>
                </a:solidFill>
                <a:latin typeface="Segoe UI"/>
              </a:defRPr>
            </a:pPr>
            <a:br/>
            <a:r>
              <a:t>Advocate matches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029200" y="3081528"/>
            <a:ext cx="182880" cy="192024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03580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4114800"/>
            <a:ext cx="20116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Consultation &amp; OTP Onboarding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029200" y="3904487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3931920" y="4754880"/>
            <a:ext cx="2377440" cy="731520"/>
          </a:xfrm>
          <a:prstGeom prst="diamond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Is OTP Verified?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029200" y="4544568"/>
            <a:ext cx="182880" cy="192024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eft Arrow 23"/>
          <p:cNvSpPr/>
          <p:nvPr/>
        </p:nvSpPr>
        <p:spPr>
          <a:xfrm>
            <a:off x="2926080" y="5029200"/>
            <a:ext cx="822960" cy="182880"/>
          </a:xfrm>
          <a:prstGeom prst="lef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97316"/>
                </a:solidFill>
              </a:defRPr>
            </a:pPr>
            <a:r>
              <a:t>Reject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910328"/>
            <a:ext cx="20116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Cancel / Lock Profile</a:t>
            </a:r>
          </a:p>
        </p:txBody>
      </p:sp>
      <p:sp>
        <p:nvSpPr>
          <p:cNvPr id="27" name="Folded Corner 26"/>
          <p:cNvSpPr/>
          <p:nvPr/>
        </p:nvSpPr>
        <p:spPr>
          <a:xfrm>
            <a:off x="731520" y="5532120"/>
            <a:ext cx="1005840" cy="502920"/>
          </a:xfrm>
          <a:prstGeom prst="foldedCorner">
            <a:avLst/>
          </a:prstGeom>
          <a:solidFill>
            <a:srgbClr val="161C2D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Intake Reset Alert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4297680"/>
            <a:ext cx="6400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0" y="4297680"/>
            <a:ext cx="18288" cy="8229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eft Arrow 29"/>
          <p:cNvSpPr/>
          <p:nvPr/>
        </p:nvSpPr>
        <p:spPr>
          <a:xfrm>
            <a:off x="3493008" y="5102352"/>
            <a:ext cx="182880" cy="18288"/>
          </a:xfrm>
          <a:prstGeom prst="lef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0690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94A3B8"/>
                </a:solidFill>
              </a:defRPr>
            </a:pPr>
            <a:r>
              <a:t>Rework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492240" y="5029200"/>
            <a:ext cx="822960" cy="18288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47548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4910328"/>
            <a:ext cx="2011680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F172A"/>
                </a:solidFill>
                <a:latin typeface="Segoe UI"/>
              </a:defRPr>
            </a:pPr>
            <a:r>
              <a:t>Initialize Case Workspace</a:t>
            </a:r>
          </a:p>
        </p:txBody>
      </p:sp>
      <p:sp>
        <p:nvSpPr>
          <p:cNvPr id="35" name="Folded Corner 34"/>
          <p:cNvSpPr/>
          <p:nvPr/>
        </p:nvSpPr>
        <p:spPr>
          <a:xfrm>
            <a:off x="7498079" y="5532120"/>
            <a:ext cx="1005840" cy="502920"/>
          </a:xfrm>
          <a:prstGeom prst="foldedCorner">
            <a:avLst/>
          </a:prstGeom>
          <a:solidFill>
            <a:srgbClr val="161C2D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94A3B8"/>
                </a:solidFill>
                <a:latin typeface="Segoe UI"/>
              </a:defRPr>
            </a:pPr>
            <a:r>
              <a:t>Signed retainer agreement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75520" y="4910328"/>
            <a:ext cx="1920240" cy="4114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AI Contract Scan &amp; Audit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555480" y="5029200"/>
            <a:ext cx="274320" cy="18288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olded Corner 37"/>
          <p:cNvSpPr/>
          <p:nvPr/>
        </p:nvSpPr>
        <p:spPr>
          <a:xfrm>
            <a:off x="9875520" y="5532120"/>
            <a:ext cx="914400" cy="502920"/>
          </a:xfrm>
          <a:prstGeom prst="foldedCorner">
            <a:avLst/>
          </a:prstGeom>
          <a:solidFill>
            <a:srgbClr val="161C2D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94A3B8"/>
                </a:solidFill>
                <a:latin typeface="Consolas"/>
              </a:defRPr>
            </a:pPr>
            <a:r>
              <a:t>Scan Verdict Log</a:t>
            </a:r>
          </a:p>
        </p:txBody>
      </p:sp>
      <p:sp>
        <p:nvSpPr>
          <p:cNvPr id="39" name="Diamond 38"/>
          <p:cNvSpPr/>
          <p:nvPr/>
        </p:nvSpPr>
        <p:spPr>
          <a:xfrm>
            <a:off x="9692640" y="3840480"/>
            <a:ext cx="2286000" cy="731520"/>
          </a:xfrm>
          <a:prstGeom prst="diamond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F8FAFC"/>
                </a:solidFill>
                <a:latin typeface="Segoe UI"/>
              </a:defRPr>
            </a:pPr>
            <a:r>
              <a:t>Predatory Clauses</a:t>
            </a:r>
            <a:br/>
            <a:r>
              <a:t>Found?</a:t>
            </a:r>
          </a:p>
        </p:txBody>
      </p:sp>
      <p:sp>
        <p:nvSpPr>
          <p:cNvPr id="40" name="Up Arrow 39"/>
          <p:cNvSpPr/>
          <p:nvPr/>
        </p:nvSpPr>
        <p:spPr>
          <a:xfrm>
            <a:off x="10789920" y="4617720"/>
            <a:ext cx="182880" cy="274320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18320" y="4187952"/>
            <a:ext cx="18288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eft Arrow 41"/>
          <p:cNvSpPr/>
          <p:nvPr/>
        </p:nvSpPr>
        <p:spPr>
          <a:xfrm>
            <a:off x="6217920" y="4663440"/>
            <a:ext cx="3218688" cy="18288"/>
          </a:xfrm>
          <a:prstGeom prst="lef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3891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97316"/>
                </a:solidFill>
              </a:defRPr>
            </a:pPr>
            <a:r>
              <a:t>Yes (Request contract renegotiation)</a:t>
            </a:r>
          </a:p>
        </p:txBody>
      </p:sp>
      <p:sp>
        <p:nvSpPr>
          <p:cNvPr id="44" name="Oval 43"/>
          <p:cNvSpPr/>
          <p:nvPr/>
        </p:nvSpPr>
        <p:spPr>
          <a:xfrm>
            <a:off x="9875520" y="2926080"/>
            <a:ext cx="219456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F8FAFC"/>
                </a:solidFill>
                <a:latin typeface="Segoe UI"/>
              </a:defRPr>
            </a:pPr>
            <a:r>
              <a:t>Active Case Resolution</a:t>
            </a:r>
          </a:p>
        </p:txBody>
      </p:sp>
      <p:sp>
        <p:nvSpPr>
          <p:cNvPr id="45" name="Up Arrow 44"/>
          <p:cNvSpPr/>
          <p:nvPr/>
        </p:nvSpPr>
        <p:spPr>
          <a:xfrm>
            <a:off x="10789920" y="3383280"/>
            <a:ext cx="182880" cy="411480"/>
          </a:xfrm>
          <a:prstGeom prst="up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0" y="347472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onsolas"/>
              </a:defRPr>
            </a:pPr>
            <a:r>
              <a:t>INTERFACE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Wireframes &amp; Mock Layouts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6366F1"/>
                </a:solidFill>
                <a:latin typeface="Consolas"/>
              </a:defRPr>
            </a:pPr>
            <a:r>
              <a:t>01 / MULTILINGUAL INTAKE PANEL</a:t>
            </a:r>
          </a:p>
          <a:p>
            <a:pPr>
              <a:lnSpc>
                <a:spcPct val="125000"/>
              </a:lnSpc>
              <a:defRPr sz="1100">
                <a:solidFill>
                  <a:srgbClr val="F8FAFC"/>
                </a:solidFill>
                <a:latin typeface="Segoe UI"/>
              </a:defRPr>
            </a:pPr>
            <a:r>
              <a:t>Textarea coupled with recording indicator pulse and voice language toggle dropdown.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6366F1"/>
                </a:solidFill>
                <a:latin typeface="Consolas"/>
              </a:defRPr>
            </a:pPr>
            <a:r>
              <a:t>02 / ADVOCATE FOLDER DIRECTORIES</a:t>
            </a:r>
          </a:p>
          <a:p>
            <a:pPr>
              <a:lnSpc>
                <a:spcPct val="125000"/>
              </a:lnSpc>
              <a:defRPr sz="1100">
                <a:solidFill>
                  <a:srgbClr val="F8FAFC"/>
                </a:solidFill>
                <a:latin typeface="Segoe UI"/>
              </a:defRPr>
            </a:pPr>
            <a:r>
              <a:t>Terracotta dashed cards highlighting lawyer statistics, license verification, and tracks.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6366F1"/>
                </a:solidFill>
                <a:latin typeface="Consolas"/>
              </a:defRPr>
            </a:pPr>
            <a:r>
              <a:t>03 / CASE WORKSPACE SPLIT-VIEW</a:t>
            </a:r>
          </a:p>
          <a:p>
            <a:pPr>
              <a:lnSpc>
                <a:spcPct val="125000"/>
              </a:lnSpc>
              <a:defRPr sz="1100">
                <a:solidFill>
                  <a:srgbClr val="F8FAFC"/>
                </a:solidFill>
                <a:latin typeface="Segoe UI"/>
              </a:defRPr>
            </a:pPr>
            <a:r>
              <a:t>Collaborative secure chat window on the left and interactive litigation roadmap checklist on the right.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6366F1"/>
                </a:solidFill>
                <a:latin typeface="Consolas"/>
              </a:defRPr>
            </a:pPr>
            <a:r>
              <a:t>04 / DOCUMENT CLAUSE AUDITOR</a:t>
            </a:r>
          </a:p>
          <a:p>
            <a:pPr>
              <a:lnSpc>
                <a:spcPct val="125000"/>
              </a:lnSpc>
              <a:defRPr sz="1100">
                <a:solidFill>
                  <a:srgbClr val="F8FAFC"/>
                </a:solidFill>
                <a:latin typeface="Segoe UI"/>
              </a:defRPr>
            </a:pPr>
            <a:r>
              <a:t>Contract upload scanner displaying color-coded warn logs alongside identified predatory clauses.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onsolas"/>
              </a:defRPr>
            </a:pPr>
            <a:r>
              <a:t>TECHNICAL LAYERING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System Architecture Nodes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743200" cy="25603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06B6D4"/>
                </a:solidFill>
                <a:latin typeface="Consolas"/>
              </a:defRPr>
            </a:pPr>
            <a:r>
              <a:t>FRONTEND CLIENT (SPA)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HTML5 / CSS3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ES6 JavaScript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webkitSpeechRecognition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Lucide UI Icons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Google Fonts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560320"/>
            <a:ext cx="2743200" cy="25603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6366F1"/>
                </a:solidFill>
                <a:latin typeface="Consolas"/>
              </a:defRPr>
            </a:pPr>
            <a:r>
              <a:t>REST BACKEND ENGINE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Node.js Platform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Express.js Framework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Body-Parser Gateway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CORS Middleware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645920"/>
            <a:ext cx="3017520" cy="1645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F97316"/>
                </a:solidFill>
                <a:latin typeface="Consolas"/>
              </a:defRPr>
            </a:pPr>
            <a:r>
              <a:t>COGNITIVE AI SERVICES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Anthropic Claude API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- Intake NLP entity extraction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- Clause warning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4389120"/>
            <a:ext cx="3017520" cy="1645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94A3B8"/>
                </a:solidFill>
                <a:latin typeface="Consolas"/>
              </a:defRPr>
            </a:pPr>
            <a:r>
              <a:t>PERSISTENCE DATA LAYER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LibSQL Database Client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SQLite File Database</a:t>
            </a:r>
          </a:p>
          <a:p>
            <a:pPr>
              <a:spcAft>
                <a:spcPts val="200"/>
              </a:spcAft>
              <a:defRPr sz="1000">
                <a:solidFill>
                  <a:srgbClr val="F8FAFC"/>
                </a:solidFill>
                <a:latin typeface="Segoe UI"/>
              </a:defRPr>
            </a:pPr>
            <a:r>
              <a:t>Turso SQL Cloud DB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66160" y="3703320"/>
            <a:ext cx="731520" cy="27432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 rot="19800000">
            <a:off x="7223760" y="2377440"/>
            <a:ext cx="109728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 rot="1800000">
            <a:off x="7223760" y="5120640"/>
            <a:ext cx="109728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onsolas"/>
              </a:defRPr>
            </a:pPr>
            <a:r>
              <a:t>DEVELOPMENT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Technologies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300" b="1">
                <a:solidFill>
                  <a:srgbClr val="6366F1"/>
                </a:solidFill>
                <a:latin typeface="Consolas"/>
              </a:defRPr>
            </a:pPr>
            <a:r>
              <a:t>FRONTEND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HTML5 Layouts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Vanilla CSS3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Slate dark theme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Glassmorphic panels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ES6 JavaScript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Lucide Icons Pack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Google Fonts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Fraunces Serif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IBM Plex Mono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645920"/>
            <a:ext cx="2468880" cy="4389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300" b="1">
                <a:solidFill>
                  <a:srgbClr val="6366F1"/>
                </a:solidFill>
                <a:latin typeface="Consolas"/>
              </a:defRPr>
            </a:pPr>
            <a:r>
              <a:t>BACKEND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Node.js Runtime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Express.js Framework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CORS Config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Dotenv (Env Vars)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Express JSON Parsers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(Base64 file buffer limit up to 50MB)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2468880" cy="4389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300" b="1">
                <a:solidFill>
                  <a:srgbClr val="6366F1"/>
                </a:solidFill>
                <a:latin typeface="Consolas"/>
              </a:defRPr>
            </a:pPr>
            <a:r>
              <a:t>DATABASE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LibSQL Database Client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SQLite (local development aequitas.db)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Turso (production cloud database deployment)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Automatic Seeding &amp; Migration scripts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645920"/>
            <a:ext cx="2468880" cy="4389120"/>
          </a:xfrm>
          <a:prstGeom prst="roundRect">
            <a:avLst/>
          </a:prstGeom>
          <a:solidFill>
            <a:srgbClr val="161C2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300" b="1">
                <a:solidFill>
                  <a:srgbClr val="6366F1"/>
                </a:solidFill>
                <a:latin typeface="Consolas"/>
              </a:defRPr>
            </a:pPr>
            <a:r>
              <a:t>INTEGRATION APIs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Anthropic Claude API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Case diagnostics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Playbook steps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Clause audits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Web Speech API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Speech-to-text voice input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  <a:latin typeface="Segoe UI"/>
              </a:defRPr>
            </a:pPr>
            <a:r>
              <a:t>DigiLocker Mock Gateway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  <a:latin typeface="Segoe UI"/>
              </a:defRPr>
            </a:pPr>
            <a:r>
              <a:t>- Lawyer credential verify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onsolas"/>
              </a:defRPr>
            </a:pPr>
            <a:r>
              <a:t>PROJECT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Cost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800"/>
              </a:spcAft>
              <a:defRPr sz="1600" b="1">
                <a:solidFill>
                  <a:srgbClr val="06B6D4"/>
                </a:solidFill>
                <a:latin typeface="Consolas"/>
              </a:defRPr>
            </a:pPr>
            <a:r>
              <a:t>MVP DEVELOPMENT &amp; DEPLOYMENT COST MODEL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1">
                <a:solidFill>
                  <a:srgbClr val="6366F1"/>
                </a:solidFill>
                <a:latin typeface="Segoe UI"/>
              </a:rPr>
              <a:t>Deployment &amp; Web Hosting (Vercel Serverless): </a:t>
            </a:r>
            <a:r>
              <a:rPr sz="1300">
                <a:solidFill>
                  <a:srgbClr val="F8FAFC"/>
                </a:solidFill>
                <a:latin typeface="Segoe UI"/>
              </a:rPr>
              <a:t>Free Hobby Tier (0$ / month) - scalable to 20$ / month Pro team plan for multi-domain routing.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1">
                <a:solidFill>
                  <a:srgbClr val="6366F1"/>
                </a:solidFill>
                <a:latin typeface="Segoe UI"/>
              </a:rPr>
              <a:t>Cloud Database (Turso SQL): </a:t>
            </a:r>
            <a:r>
              <a:rPr sz="1300">
                <a:solidFill>
                  <a:srgbClr val="F8FAFC"/>
                </a:solidFill>
                <a:latin typeface="Segoe UI"/>
              </a:rPr>
              <a:t>Free Starter Tier (0$ / month) - includes 500MB storage and 1 billion reads, perfectly sufficient for MVP testing.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1">
                <a:solidFill>
                  <a:srgbClr val="6366F1"/>
                </a:solidFill>
                <a:latin typeface="Segoe UI"/>
              </a:rPr>
              <a:t>AI API Engine (Anthropic Claude 3.5 Sonnet / Haiku): </a:t>
            </a:r>
            <a:r>
              <a:rPr sz="1300">
                <a:solidFill>
                  <a:srgbClr val="F8FAFC"/>
                </a:solidFill>
                <a:latin typeface="Segoe UI"/>
              </a:rPr>
              <a:t>Pay-as-you-go credit token model: ~$0.005 per intake NLP extraction request and ~$0.015 per PDF contract clause scan. Estimated active hackathon demo cost: ~$5 - $10 total.</a:t>
            </a:r>
          </a:p>
          <a:p>
            <a:pPr>
              <a:lnSpc>
                <a:spcPct val="130000"/>
              </a:lnSpc>
              <a:spcAft>
                <a:spcPts val="1400"/>
              </a:spcAft>
            </a:pPr>
            <a:r>
              <a:rPr sz="1300" b="1">
                <a:solidFill>
                  <a:srgbClr val="6366F1"/>
                </a:solidFill>
                <a:latin typeface="Segoe UI"/>
              </a:rPr>
              <a:t>Development Licensing &amp; Tooling: </a:t>
            </a:r>
            <a:r>
              <a:rPr sz="1300">
                <a:solidFill>
                  <a:srgbClr val="F8FAFC"/>
                </a:solidFill>
                <a:latin typeface="Segoe UI"/>
              </a:rPr>
              <a:t>Utilizes open-source libraries (LibSQL, Express, Lucide, Web Speech API) incurring zero licensing costs.</a:t>
            </a:r>
          </a:p>
          <a:p>
            <a:pPr>
              <a:spcBef>
                <a:spcPts val="1400"/>
              </a:spcBef>
              <a:defRPr sz="1400" b="1">
                <a:solidFill>
                  <a:srgbClr val="F97316"/>
                </a:solidFill>
                <a:latin typeface="Segoe UI"/>
              </a:defRPr>
            </a:pPr>
            <a:r>
              <a:t>TOTAL PROJECTED MONTHLY COST FOR MVP TESTING: $0.00 (Relying on Cloud Free Tiers)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6400" b="1">
                <a:solidFill>
                  <a:srgbClr val="06B6D4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Aft>
                <a:spcPts val="1400"/>
              </a:spcAft>
              <a:defRPr sz="2200">
                <a:solidFill>
                  <a:srgbClr val="F8FAFC"/>
                </a:solidFill>
                <a:latin typeface="Segoe UI"/>
              </a:defRPr>
            </a:pPr>
            <a:r>
              <a:t>Aequitas: Legal Help Made Accessible</a:t>
            </a:r>
          </a:p>
          <a:p>
            <a:pPr algn="ctr">
              <a:defRPr sz="1300">
                <a:solidFill>
                  <a:srgbClr val="6366F1"/>
                </a:solidFill>
                <a:latin typeface="Consolas"/>
              </a:defRPr>
            </a:pPr>
            <a:r>
              <a:t>GitHub Repository: https://github.com/Goldengrab/YCCE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