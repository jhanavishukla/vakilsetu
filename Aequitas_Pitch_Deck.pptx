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06B6D4"/>
                </a:solidFill>
                <a:latin typeface="Segoe UI"/>
              </a:defRPr>
            </a:pPr>
            <a:r>
              <a:t>AEQUITAS</a:t>
            </a:r>
          </a:p>
          <a:p>
            <a:pPr>
              <a:defRPr sz="2400">
                <a:solidFill>
                  <a:srgbClr val="6366F1"/>
                </a:solidFill>
                <a:latin typeface="Segoe UI"/>
              </a:defRPr>
            </a:pPr>
            <a:r>
              <a:t>Legal Help Made Accessible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06B6D4"/>
                </a:solidFill>
                <a:latin typeface="Segoe UI"/>
              </a:rPr>
              <a:t>Team Name : </a:t>
            </a:r>
            <a:r>
              <a:rPr sz="1300">
                <a:solidFill>
                  <a:srgbClr val="F8FAFC"/>
                </a:solidFill>
                <a:latin typeface="Segoe UI"/>
              </a:rPr>
              <a:t>[Enter your Team Name]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6B6D4"/>
                </a:solidFill>
                <a:latin typeface="Segoe UI"/>
              </a:rPr>
              <a:t>Team Leader Name : </a:t>
            </a:r>
            <a:r>
              <a:rPr sz="1300">
                <a:solidFill>
                  <a:srgbClr val="F8FAFC"/>
                </a:solidFill>
                <a:latin typeface="Segoe UI"/>
              </a:rPr>
              <a:t>[Enter Team Leader Name]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6B6D4"/>
                </a:solidFill>
                <a:latin typeface="Segoe UI"/>
              </a:rPr>
              <a:t>Problem Statement : </a:t>
            </a:r>
            <a:r>
              <a:rPr sz="1300">
                <a:solidFill>
                  <a:srgbClr val="F8FAFC"/>
                </a:solidFill>
                <a:latin typeface="Segoe UI"/>
              </a:rPr>
              <a:t>Legal assistance is inaccessible to the general public due to complex jargon, unpredictable billing, matchmaker discovery difficulty, and verification gaps when hiring advocates.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AEQUITAS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Team Members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06B6D4"/>
                </a:solidFill>
                <a:latin typeface="Consolas"/>
              </a:defRPr>
            </a:pPr>
            <a:r>
              <a:t>TEAM LEADER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Name: [Enter Name]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College: [Enter College]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LinkedIn: [Enter URL]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94A3B8"/>
                </a:solidFill>
                <a:latin typeface="Consolas"/>
              </a:defRPr>
            </a:pPr>
            <a:r>
              <a:t>TEAM MEMBER 1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Name: [Enter Name]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College: [Enter College]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LinkedIn: [Enter URL]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94A3B8"/>
                </a:solidFill>
                <a:latin typeface="Consolas"/>
              </a:defRPr>
            </a:pPr>
            <a:r>
              <a:t>TEAM MEMBER 2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Name: [Enter Name]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College: [Enter College]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LinkedIn: [Enter URL]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383280" cy="2103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94A3B8"/>
                </a:solidFill>
                <a:latin typeface="Consolas"/>
              </a:defRPr>
            </a:pPr>
            <a:r>
              <a:t>TEAM MEMBER 3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Name: [Enter Name]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College: [Enter College]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LinkedIn: [Enter URL]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383280" cy="2103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94A3B8"/>
                </a:solidFill>
                <a:latin typeface="Consolas"/>
              </a:defRPr>
            </a:pPr>
            <a:r>
              <a:t>TEAM MEMBER 4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Name: [Enter Name]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College: [Enter College]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LinkedIn: [Enter URL]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THE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Brief about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366F1"/>
                </a:solidFill>
                <a:latin typeface="Segoe UI"/>
              </a:defRPr>
            </a:pPr>
            <a:r>
              <a:t>Aequitas: Simplifying Legal Access via Intelligent Diagnostics and Vetted Matchmaking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61C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06B6D4"/>
                </a:solidFill>
                <a:latin typeface="Consolas"/>
              </a:defRPr>
            </a:pPr>
            <a:r>
              <a:t>AI CASE ANALYZER</a:t>
            </a:r>
          </a:p>
          <a:p>
            <a:pPr>
              <a:lnSpc>
                <a:spcPct val="130000"/>
              </a:lnSpc>
              <a:defRPr sz="1300">
                <a:solidFill>
                  <a:srgbClr val="F8FAFC"/>
                </a:solidFill>
                <a:latin typeface="Segoe UI"/>
              </a:defRPr>
            </a:pPr>
            <a:r>
              <a:t>Intake engine that transcribes spoken speech (English, Hindi, Marathi) in real-time, identifies the category, projects viability scores, and drafts instant playbook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6366F1"/>
                </a:solidFill>
                <a:latin typeface="Consolas"/>
              </a:defRPr>
            </a:pPr>
            <a:r>
              <a:t>ADVOCATE MATCHMAKER</a:t>
            </a:r>
          </a:p>
          <a:p>
            <a:pPr>
              <a:lnSpc>
                <a:spcPct val="130000"/>
              </a:lnSpc>
              <a:defRPr sz="1300">
                <a:solidFill>
                  <a:srgbClr val="F8FAFC"/>
                </a:solidFill>
                <a:latin typeface="Segoe UI"/>
              </a:defRPr>
            </a:pPr>
            <a:r>
              <a:t>Filters verified lawyers with transparent, flat-rate pricing models, star ratings, and detailed timelines of verified past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6366F1"/>
                </a:solidFill>
                <a:latin typeface="Consolas"/>
              </a:defRPr>
            </a:pPr>
            <a:r>
              <a:t>SECURE WORKSPACE &amp; AUDITS</a:t>
            </a:r>
          </a:p>
          <a:p>
            <a:pPr>
              <a:lnSpc>
                <a:spcPct val="130000"/>
              </a:lnSpc>
              <a:defRPr sz="1300">
                <a:solidFill>
                  <a:srgbClr val="F8FAFC"/>
                </a:solidFill>
                <a:latin typeface="Segoe UI"/>
              </a:defRPr>
            </a:pPr>
            <a:r>
              <a:t>Fuses encrypted chat, timelines, and an AI Clause Auditor that highlights and scans contract PDFs for predatory agreements.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Opportunity, Solve &amp; USP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6366F1"/>
                </a:solidFill>
                <a:latin typeface="Consolas"/>
              </a:defRPr>
            </a:pPr>
            <a:r>
              <a:t>HOW IT SOLVES THE PROBLEM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Demystifies Complex Scenarios: Users express legal issues in plain text or voice in their native language; the platform does the heavy lifting of parsing it.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Guarantees Price Integrity: Completely eliminates billable-hour exploitation by forcing flat-rate advocate packaging.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Enforces Absolute Trust: Integrates state-authorized DigiLocker credentials and cross-checks qualifications with AI verification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C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06B6D4"/>
                </a:solidFill>
                <a:latin typeface="Consolas"/>
              </a:defRPr>
            </a:pPr>
            <a:r>
              <a:t>OUR UNIQUE VALUE PROPOSITION (USP)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Invisible Intake-to-Contract Audit Flow: The system acts as a complete, unified client intake. Rather than just listing contacts, it analyzes the claim, matches the correct lawyer, and sets up a shared workspace with automatic contract scanner support.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State Bar Enrolment Validation: Checks bar license directories dynamically and uses AI sanity checking to prevent credential fraud.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Dual-Perspective Dashboards: Client interface tracks roadmaps, while the Advocate panel manages client caseloads and coordinates remote filings.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SYSTEM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Process Flow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920240" cy="32004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100" b="1">
                <a:solidFill>
                  <a:srgbClr val="06B6D4"/>
                </a:solidFill>
                <a:latin typeface="Consolas"/>
              </a:defRPr>
            </a:pPr>
            <a:r>
              <a:t>1. VOICE/TEXT INTAKE</a:t>
            </a:r>
          </a:p>
          <a:p>
            <a:pPr>
              <a:lnSpc>
                <a:spcPct val="120000"/>
              </a:lnSpc>
              <a:defRPr sz="1050">
                <a:solidFill>
                  <a:srgbClr val="F8FAFC"/>
                </a:solidFill>
                <a:latin typeface="Segoe UI"/>
              </a:defRPr>
            </a:pPr>
            <a:r>
              <a:t>Client enters issue or narrates via Microphone in local language (EN/HI/MR).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97480" y="329184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2011680"/>
            <a:ext cx="1920240" cy="32004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100" b="1">
                <a:solidFill>
                  <a:srgbClr val="6366F1"/>
                </a:solidFill>
                <a:latin typeface="Consolas"/>
              </a:defRPr>
            </a:pPr>
            <a:r>
              <a:t>2. AI INTEL DIAGNOSTIC</a:t>
            </a:r>
          </a:p>
          <a:p>
            <a:pPr>
              <a:lnSpc>
                <a:spcPct val="120000"/>
              </a:lnSpc>
              <a:defRPr sz="1050">
                <a:solidFill>
                  <a:srgbClr val="F8FAFC"/>
                </a:solidFill>
                <a:latin typeface="Segoe UI"/>
              </a:defRPr>
            </a:pPr>
            <a:r>
              <a:t>Claude API extracts category, viability percentage, costs, and immediate playbooks.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92040" y="329184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2011680"/>
            <a:ext cx="1920240" cy="32004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100" b="1">
                <a:solidFill>
                  <a:srgbClr val="06B6D4"/>
                </a:solidFill>
                <a:latin typeface="Consolas"/>
              </a:defRPr>
            </a:pPr>
            <a:r>
              <a:t>3. LAWYER MATCHMAKING</a:t>
            </a:r>
          </a:p>
          <a:p>
            <a:pPr>
              <a:lnSpc>
                <a:spcPct val="120000"/>
              </a:lnSpc>
              <a:defRPr sz="1050">
                <a:solidFill>
                  <a:srgbClr val="F8FAFC"/>
                </a:solidFill>
                <a:latin typeface="Segoe UI"/>
              </a:defRPr>
            </a:pPr>
            <a:r>
              <a:t>Client matches with vetted advocates and books flat-rate consultation packages.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6600" y="329184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2011680"/>
            <a:ext cx="1920240" cy="32004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100" b="1">
                <a:solidFill>
                  <a:srgbClr val="6366F1"/>
                </a:solidFill>
                <a:latin typeface="Consolas"/>
              </a:defRPr>
            </a:pPr>
            <a:r>
              <a:t>4. DIGILOCKER GATEWAY</a:t>
            </a:r>
          </a:p>
          <a:p>
            <a:pPr>
              <a:lnSpc>
                <a:spcPct val="120000"/>
              </a:lnSpc>
              <a:defRPr sz="1050">
                <a:solidFill>
                  <a:srgbClr val="F8FAFC"/>
                </a:solidFill>
                <a:latin typeface="Segoe UI"/>
              </a:defRPr>
            </a:pPr>
            <a:r>
              <a:t>Lawyers register credentials checked by bar formats and automated sanity stamps.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81160" y="329184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2011680"/>
            <a:ext cx="1920240" cy="32004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100" b="1">
                <a:solidFill>
                  <a:srgbClr val="06B6D4"/>
                </a:solidFill>
                <a:latin typeface="Consolas"/>
              </a:defRPr>
            </a:pPr>
            <a:r>
              <a:t>5. CASE WORKSPACE</a:t>
            </a:r>
          </a:p>
          <a:p>
            <a:pPr>
              <a:lnSpc>
                <a:spcPct val="120000"/>
              </a:lnSpc>
              <a:defRPr sz="1050">
                <a:solidFill>
                  <a:srgbClr val="F8FAFC"/>
                </a:solidFill>
                <a:latin typeface="Segoe UI"/>
              </a:defRPr>
            </a:pPr>
            <a:r>
              <a:t>Secure portal opens with timelines, direct chat, and contract auditing scanners.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INTERFACE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Wireframes &amp; Mock Layouts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6366F1"/>
                </a:solidFill>
                <a:latin typeface="Consolas"/>
              </a:defRPr>
            </a:pPr>
            <a:r>
              <a:t>1. AI INTAKE PORTAL</a:t>
            </a:r>
          </a:p>
          <a:p>
            <a:pPr>
              <a:lnSpc>
                <a:spcPct val="120000"/>
              </a:lnSpc>
              <a:defRPr sz="1100">
                <a:solidFill>
                  <a:srgbClr val="F8FAFC"/>
                </a:solidFill>
                <a:latin typeface="Segoe UI"/>
              </a:defRPr>
            </a:pPr>
            <a:r>
              <a:t>Contains the custom textarea, a floating microphone recording button, a language selection dropdown, example scenario prompt chips, and a visual 'Listening...' animation tracker.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6366F1"/>
                </a:solidFill>
                <a:latin typeface="Consolas"/>
              </a:defRPr>
            </a:pPr>
            <a:r>
              <a:t>2. ADVOCATE PORTFOLIO FOLDERS</a:t>
            </a:r>
          </a:p>
          <a:p>
            <a:pPr>
              <a:lnSpc>
                <a:spcPct val="120000"/>
              </a:lnSpc>
              <a:defRPr sz="1100">
                <a:solidFill>
                  <a:srgbClr val="F8FAFC"/>
                </a:solidFill>
                <a:latin typeface="Segoe UI"/>
              </a:defRPr>
            </a:pPr>
            <a:r>
              <a:t>Lawyer directories are presented in sleek folder styles with dashed border highlights, rating badges, bar verification icons, and chronological past track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6366F1"/>
                </a:solidFill>
                <a:latin typeface="Consolas"/>
              </a:defRPr>
            </a:pPr>
            <a:r>
              <a:t>3. CO-COLLABORATION WORKSPACE</a:t>
            </a:r>
          </a:p>
          <a:p>
            <a:pPr>
              <a:lnSpc>
                <a:spcPct val="120000"/>
              </a:lnSpc>
              <a:defRPr sz="1100">
                <a:solidFill>
                  <a:srgbClr val="F8FAFC"/>
                </a:solidFill>
                <a:latin typeface="Segoe UI"/>
              </a:defRPr>
            </a:pPr>
            <a:r>
              <a:t>Split-screen dashboard separating the end-to-end privilege-protected client-lawyer chat log (left) from active case checklists and progress trackers (right).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6366F1"/>
                </a:solidFill>
                <a:latin typeface="Consolas"/>
              </a:defRPr>
            </a:pPr>
            <a:r>
              <a:t>4. AI CLAUSE AUDITOR PANEL</a:t>
            </a:r>
          </a:p>
          <a:p>
            <a:pPr>
              <a:lnSpc>
                <a:spcPct val="120000"/>
              </a:lnSpc>
              <a:defRPr sz="1100">
                <a:solidFill>
                  <a:srgbClr val="F8FAFC"/>
                </a:solidFill>
                <a:latin typeface="Segoe UI"/>
              </a:defRPr>
            </a:pPr>
            <a:r>
              <a:t>Dedicated scan interface inside the workspace where uploaded document sheets are scanned, overlaying warning banners and recommendations next to suspicious text blocks.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TECHNICAL LAYERING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System Architecture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solidFill>
            <a:srgbClr val="161C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6B6D4"/>
                </a:solidFill>
                <a:latin typeface="Consolas"/>
              </a:defRPr>
            </a:pPr>
            <a:r>
              <a:t>FRONTEND LAYER (SPA CLIENT)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HTML5 / CSS3 (Slate dark theme, glassmorphic inputs, responsive timeline grids) | ES6 Javascript | Web Speech API (Multilingual microphone transcription)</a:t>
            </a:r>
          </a:p>
        </p:txBody>
      </p:sp>
      <p:sp>
        <p:nvSpPr>
          <p:cNvPr id="5" name="Down Arrow 4"/>
          <p:cNvSpPr/>
          <p:nvPr/>
        </p:nvSpPr>
        <p:spPr>
          <a:xfrm>
            <a:off x="5852160" y="3063240"/>
            <a:ext cx="274320" cy="18288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10698480" cy="1371600"/>
          </a:xfrm>
          <a:prstGeom prst="rect">
            <a:avLst/>
          </a:prstGeom>
          <a:solidFill>
            <a:srgbClr val="161C2D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6366F1"/>
                </a:solidFill>
                <a:latin typeface="Consolas"/>
              </a:defRPr>
            </a:pPr>
            <a:r>
              <a:t>BACKEND LAYER (REST API ENGINE)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Node.js &amp; Express.js | Request limits and body parsers for base64 file audits | Routing controller gateways (/api/lawyers, /api/bookings, /api/analyze-case)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52160" y="4709160"/>
            <a:ext cx="274320" cy="18288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937760"/>
            <a:ext cx="10698480" cy="1371600"/>
          </a:xfrm>
          <a:prstGeom prst="rect">
            <a:avLst/>
          </a:prstGeom>
          <a:solidFill>
            <a:srgbClr val="161C2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F97316"/>
                </a:solidFill>
                <a:latin typeface="Consolas"/>
              </a:defRPr>
            </a:pPr>
            <a:r>
              <a:t>DATA &amp; COGNITIVE LAYER (PERSISTENCE &amp; LLM)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SQLite &amp; LibSQL client (local development database, compatible with Turso cloud DB) | Anthropic Claude API (Intake assessments &amp; PDF clause scans)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DEVELOPMENT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300" b="1">
                <a:solidFill>
                  <a:srgbClr val="6366F1"/>
                </a:solidFill>
                <a:latin typeface="Consolas"/>
              </a:defRPr>
            </a:pPr>
            <a:r>
              <a:t>FRONTEND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HTML5 Layouts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Vanilla CSS3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Slate dark theme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Glassmorphic panels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ES6 JavaScript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Lucide Icons Pack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Google Fonts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Fraunces Serif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IBM Plex Mono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645920"/>
            <a:ext cx="2468880" cy="4389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300" b="1">
                <a:solidFill>
                  <a:srgbClr val="6366F1"/>
                </a:solidFill>
                <a:latin typeface="Consolas"/>
              </a:defRPr>
            </a:pPr>
            <a:r>
              <a:t>BACKEND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Node.js Runtime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Express.js Framework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CORS Config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Dotenv (Env Vars)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Express JSON Parsers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(Base64 file buffer limit up to 50MB)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2468880" cy="4389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300" b="1">
                <a:solidFill>
                  <a:srgbClr val="6366F1"/>
                </a:solidFill>
                <a:latin typeface="Consolas"/>
              </a:defRPr>
            </a:pPr>
            <a:r>
              <a:t>DATABASE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LibSQL Database Client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SQLite (local development aequitas.db)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Turso (production cloud database deployment)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Automatic Seeding &amp; Migration scripts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645920"/>
            <a:ext cx="2468880" cy="4389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300" b="1">
                <a:solidFill>
                  <a:srgbClr val="6366F1"/>
                </a:solidFill>
                <a:latin typeface="Consolas"/>
              </a:defRPr>
            </a:pPr>
            <a:r>
              <a:t>INTEGRATION APIs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Anthropic Claude API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Case diagnostics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Playbook steps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Clause audits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Web Speech API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Speech-to-text voice input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DigiLocker Mock Gateway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Lawyer credential verify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PROJECT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Cost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1C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800"/>
              </a:spcAft>
              <a:defRPr sz="1600" b="1">
                <a:solidFill>
                  <a:srgbClr val="06B6D4"/>
                </a:solidFill>
                <a:latin typeface="Consolas"/>
              </a:defRPr>
            </a:pPr>
            <a:r>
              <a:t>MVP DEVELOPMENT &amp; DEPLOYMENT COST MODEL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 b="1">
                <a:solidFill>
                  <a:srgbClr val="6366F1"/>
                </a:solidFill>
                <a:latin typeface="Segoe UI"/>
              </a:rPr>
              <a:t>Deployment &amp; Web Hosting (Vercel Serverless): </a:t>
            </a:r>
            <a:r>
              <a:rPr sz="1300">
                <a:solidFill>
                  <a:srgbClr val="F8FAFC"/>
                </a:solidFill>
                <a:latin typeface="Segoe UI"/>
              </a:rPr>
              <a:t>Free Hobby Tier (0$ / month) - scalable to 20$ / month Pro team plan for multi-domain routing.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 b="1">
                <a:solidFill>
                  <a:srgbClr val="6366F1"/>
                </a:solidFill>
                <a:latin typeface="Segoe UI"/>
              </a:rPr>
              <a:t>Cloud Database (Turso SQL): </a:t>
            </a:r>
            <a:r>
              <a:rPr sz="1300">
                <a:solidFill>
                  <a:srgbClr val="F8FAFC"/>
                </a:solidFill>
                <a:latin typeface="Segoe UI"/>
              </a:rPr>
              <a:t>Free Starter Tier (0$ / month) - includes 500MB storage and 1 billion reads, perfectly sufficient for MVP testing.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 b="1">
                <a:solidFill>
                  <a:srgbClr val="6366F1"/>
                </a:solidFill>
                <a:latin typeface="Segoe UI"/>
              </a:rPr>
              <a:t>AI API Engine (Anthropic Claude 3.5 Sonnet / Haiku): </a:t>
            </a:r>
            <a:r>
              <a:rPr sz="1300">
                <a:solidFill>
                  <a:srgbClr val="F8FAFC"/>
                </a:solidFill>
                <a:latin typeface="Segoe UI"/>
              </a:rPr>
              <a:t>Pay-as-you-go credit token model: ~$0.005 per intake assessment request and ~$0.015 per PDF contract clause scan. Estimated active hackathon demo cost: ~$5 - $10 total.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 b="1">
                <a:solidFill>
                  <a:srgbClr val="6366F1"/>
                </a:solidFill>
                <a:latin typeface="Segoe UI"/>
              </a:rPr>
              <a:t>Development Licensing &amp; Tooling: </a:t>
            </a:r>
            <a:r>
              <a:rPr sz="1300">
                <a:solidFill>
                  <a:srgbClr val="F8FAFC"/>
                </a:solidFill>
                <a:latin typeface="Segoe UI"/>
              </a:rPr>
              <a:t>Utilizes open-source libraries (LibSQL, Express, Lucide, Web Speech API) incurring zero licensing costs.</a:t>
            </a:r>
          </a:p>
          <a:p>
            <a:pPr>
              <a:spcBef>
                <a:spcPts val="1400"/>
              </a:spcBef>
              <a:defRPr sz="1400" b="1">
                <a:solidFill>
                  <a:srgbClr val="F97316"/>
                </a:solidFill>
                <a:latin typeface="Segoe UI"/>
              </a:defRPr>
            </a:pPr>
            <a:r>
              <a:t>TOTAL PROJECTED MONTHLY COST FOR MVP TESTING: $0.00 (Relying on Cloud Free Tiers)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6400" b="1">
                <a:solidFill>
                  <a:srgbClr val="06B6D4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Aft>
                <a:spcPts val="1400"/>
              </a:spcAft>
              <a:defRPr sz="2200">
                <a:solidFill>
                  <a:srgbClr val="F8FAFC"/>
                </a:solidFill>
                <a:latin typeface="Segoe UI"/>
              </a:defRPr>
            </a:pPr>
            <a:r>
              <a:t>Aequitas: Legal Help Made Accessible</a:t>
            </a:r>
          </a:p>
          <a:p>
            <a:pPr algn="ctr">
              <a:defRPr sz="1300">
                <a:solidFill>
                  <a:srgbClr val="6366F1"/>
                </a:solidFill>
                <a:latin typeface="Consolas"/>
              </a:defRPr>
            </a:pPr>
            <a:r>
              <a:t>GitHub Repository: https://github.com/Goldengrab/YCCE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